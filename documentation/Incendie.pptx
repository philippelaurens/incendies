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Arimo" panose="020B0604020202020204" charset="0"/>
      <p:regular r:id="rId31"/>
    </p:embeddedFont>
    <p:embeddedFont>
      <p:font typeface="Arimo Bold" panose="020B0604020202020204" charset="0"/>
      <p:regular r:id="rId32"/>
    </p:embeddedFont>
    <p:embeddedFont>
      <p:font typeface="Open Sans" panose="020B0606030504020204" pitchFamily="34" charset="0"/>
      <p:regular r:id="rId33"/>
    </p:embeddedFont>
    <p:embeddedFont>
      <p:font typeface="Open Sans Bold" panose="020B0806030504020204" charset="0"/>
      <p:regular r:id="rId34"/>
    </p:embeddedFont>
    <p:embeddedFont>
      <p:font typeface="Open Sans Italics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bdiff.agriculture.gouv.fr/incendie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00950" y="351354"/>
            <a:ext cx="3143251" cy="3086100"/>
            <a:chOff x="0" y="0"/>
            <a:chExt cx="827852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D292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5052" y="23801"/>
              <a:ext cx="8128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Incendies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17654" y="3754416"/>
            <a:ext cx="6960215" cy="4593742"/>
            <a:chOff x="0" y="0"/>
            <a:chExt cx="635000" cy="419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21725" y="0"/>
                  </a:moveTo>
                  <a:lnTo>
                    <a:pt x="613275" y="0"/>
                  </a:lnTo>
                  <a:cubicBezTo>
                    <a:pt x="619037" y="0"/>
                    <a:pt x="624563" y="2289"/>
                    <a:pt x="628637" y="6363"/>
                  </a:cubicBezTo>
                  <a:cubicBezTo>
                    <a:pt x="632711" y="10437"/>
                    <a:pt x="635000" y="15963"/>
                    <a:pt x="635000" y="21725"/>
                  </a:cubicBezTo>
                  <a:lnTo>
                    <a:pt x="635000" y="397375"/>
                  </a:lnTo>
                  <a:cubicBezTo>
                    <a:pt x="635000" y="403137"/>
                    <a:pt x="632711" y="408663"/>
                    <a:pt x="628637" y="412737"/>
                  </a:cubicBezTo>
                  <a:cubicBezTo>
                    <a:pt x="624563" y="416811"/>
                    <a:pt x="619037" y="419100"/>
                    <a:pt x="613275" y="419100"/>
                  </a:cubicBezTo>
                  <a:lnTo>
                    <a:pt x="21725" y="419100"/>
                  </a:lnTo>
                  <a:cubicBezTo>
                    <a:pt x="15963" y="419100"/>
                    <a:pt x="10437" y="416811"/>
                    <a:pt x="6363" y="412737"/>
                  </a:cubicBezTo>
                  <a:cubicBezTo>
                    <a:pt x="2289" y="408663"/>
                    <a:pt x="0" y="403137"/>
                    <a:pt x="0" y="397375"/>
                  </a:cubicBezTo>
                  <a:lnTo>
                    <a:pt x="0" y="21725"/>
                  </a:lnTo>
                  <a:cubicBezTo>
                    <a:pt x="0" y="15963"/>
                    <a:pt x="2289" y="10437"/>
                    <a:pt x="6363" y="6363"/>
                  </a:cubicBezTo>
                  <a:cubicBezTo>
                    <a:pt x="10437" y="2289"/>
                    <a:pt x="15963" y="0"/>
                    <a:pt x="21725" y="0"/>
                  </a:cubicBezTo>
                  <a:close/>
                </a:path>
              </a:pathLst>
            </a:custGeom>
            <a:solidFill>
              <a:srgbClr val="302F2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66296" y="4212948"/>
            <a:ext cx="6462931" cy="3686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Contexte</a:t>
            </a:r>
            <a:endParaRPr lang="en-US" sz="24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499"/>
              </a:lnSpc>
            </a:pPr>
            <a:endParaRPr lang="en-US" sz="24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Direction Générale de la Sécurité Civile et de la Gestion des Crises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 national </a:t>
            </a:r>
            <a:r>
              <a:rPr lang="en-US" sz="19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d'adaptation</a:t>
            </a: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au changement </a:t>
            </a:r>
            <a:r>
              <a:rPr lang="en-US" sz="19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climatique</a:t>
            </a:r>
            <a:endParaRPr lang="en-US" sz="19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BDIFF plus de 9000 </a:t>
            </a:r>
            <a:r>
              <a:rPr lang="en-US" sz="19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feux</a:t>
            </a:r>
            <a:endParaRPr lang="en-US" sz="19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précision</a:t>
            </a: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géographique</a:t>
            </a: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au </a:t>
            </a:r>
            <a:r>
              <a:rPr lang="en-US" sz="19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niveau</a:t>
            </a: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communal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données de 1973 à 2024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292333" y="3754416"/>
            <a:ext cx="6430688" cy="4593742"/>
            <a:chOff x="0" y="0"/>
            <a:chExt cx="586690" cy="419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6690" cy="419100"/>
            </a:xfrm>
            <a:custGeom>
              <a:avLst/>
              <a:gdLst/>
              <a:ahLst/>
              <a:cxnLst/>
              <a:rect l="l" t="t" r="r" b="b"/>
              <a:pathLst>
                <a:path w="586690" h="419100">
                  <a:moveTo>
                    <a:pt x="23514" y="0"/>
                  </a:moveTo>
                  <a:lnTo>
                    <a:pt x="563176" y="0"/>
                  </a:lnTo>
                  <a:cubicBezTo>
                    <a:pt x="569412" y="0"/>
                    <a:pt x="575393" y="2477"/>
                    <a:pt x="579803" y="6887"/>
                  </a:cubicBezTo>
                  <a:cubicBezTo>
                    <a:pt x="584212" y="11297"/>
                    <a:pt x="586690" y="17277"/>
                    <a:pt x="586690" y="23514"/>
                  </a:cubicBezTo>
                  <a:lnTo>
                    <a:pt x="586690" y="395586"/>
                  </a:lnTo>
                  <a:cubicBezTo>
                    <a:pt x="586690" y="408573"/>
                    <a:pt x="576162" y="419100"/>
                    <a:pt x="563176" y="419100"/>
                  </a:cubicBezTo>
                  <a:lnTo>
                    <a:pt x="23514" y="419100"/>
                  </a:lnTo>
                  <a:cubicBezTo>
                    <a:pt x="10527" y="419100"/>
                    <a:pt x="0" y="408573"/>
                    <a:pt x="0" y="395586"/>
                  </a:cubicBezTo>
                  <a:lnTo>
                    <a:pt x="0" y="23514"/>
                  </a:lnTo>
                  <a:cubicBezTo>
                    <a:pt x="0" y="10527"/>
                    <a:pt x="10527" y="0"/>
                    <a:pt x="23514" y="0"/>
                  </a:cubicBezTo>
                  <a:close/>
                </a:path>
              </a:pathLst>
            </a:custGeom>
            <a:solidFill>
              <a:srgbClr val="302F2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58669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510117" y="4133954"/>
            <a:ext cx="5995363" cy="3686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Contrainte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 data scientists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semaine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intelligence géospatiale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téléchargement des fichiers CSV par paquets de 30 000 lignes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Géocodage par code INSEE (sans précision latitude/longitude)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Absence de données météorologiques,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9144" y="3776480"/>
            <a:ext cx="7754505" cy="4858505"/>
            <a:chOff x="0" y="0"/>
            <a:chExt cx="707465" cy="4432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7465" cy="443255"/>
            </a:xfrm>
            <a:custGeom>
              <a:avLst/>
              <a:gdLst/>
              <a:ahLst/>
              <a:cxnLst/>
              <a:rect l="l" t="t" r="r" b="b"/>
              <a:pathLst>
                <a:path w="707465" h="443255">
                  <a:moveTo>
                    <a:pt x="19500" y="0"/>
                  </a:moveTo>
                  <a:lnTo>
                    <a:pt x="687966" y="0"/>
                  </a:lnTo>
                  <a:cubicBezTo>
                    <a:pt x="693137" y="0"/>
                    <a:pt x="698097" y="2054"/>
                    <a:pt x="701754" y="5711"/>
                  </a:cubicBezTo>
                  <a:cubicBezTo>
                    <a:pt x="705411" y="9368"/>
                    <a:pt x="707465" y="14328"/>
                    <a:pt x="707465" y="19500"/>
                  </a:cubicBezTo>
                  <a:lnTo>
                    <a:pt x="707465" y="423756"/>
                  </a:lnTo>
                  <a:cubicBezTo>
                    <a:pt x="707465" y="428927"/>
                    <a:pt x="705411" y="433887"/>
                    <a:pt x="701754" y="437544"/>
                  </a:cubicBezTo>
                  <a:cubicBezTo>
                    <a:pt x="698097" y="441201"/>
                    <a:pt x="693137" y="443255"/>
                    <a:pt x="687966" y="443255"/>
                  </a:cubicBezTo>
                  <a:lnTo>
                    <a:pt x="19500" y="443255"/>
                  </a:lnTo>
                  <a:cubicBezTo>
                    <a:pt x="14328" y="443255"/>
                    <a:pt x="9368" y="441201"/>
                    <a:pt x="5711" y="437544"/>
                  </a:cubicBezTo>
                  <a:cubicBezTo>
                    <a:pt x="2054" y="433887"/>
                    <a:pt x="0" y="428927"/>
                    <a:pt x="0" y="423756"/>
                  </a:cubicBezTo>
                  <a:lnTo>
                    <a:pt x="0" y="19500"/>
                  </a:lnTo>
                  <a:cubicBezTo>
                    <a:pt x="0" y="14328"/>
                    <a:pt x="2054" y="9368"/>
                    <a:pt x="5711" y="5711"/>
                  </a:cubicBezTo>
                  <a:cubicBezTo>
                    <a:pt x="9368" y="2054"/>
                    <a:pt x="14328" y="0"/>
                    <a:pt x="19500" y="0"/>
                  </a:cubicBezTo>
                  <a:close/>
                </a:path>
              </a:pathLst>
            </a:custGeom>
            <a:solidFill>
              <a:srgbClr val="302F2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07465" cy="4718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838818" y="4194800"/>
            <a:ext cx="6655158" cy="417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définir la ou les variables à prédire</a:t>
            </a:r>
          </a:p>
          <a:p>
            <a:pPr algn="ctr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Plusieurs approches sont possibles :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Variable binaire d’occurrence d’incendie :</a:t>
            </a: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prédire si une commune aura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ou non un incendie dans une période donnée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1500">
              <a:solidFill>
                <a:srgbClr val="FF751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Niveau de risque quantitatif : estimer un score de risque d’incendie pour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chaque commune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15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Type d’incendie selon le lieu et la date : prédire la probabilité de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différents types d’incendies en fonction des caractéristiques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géographiques et temporelles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15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Intensité ou superficie potentielle : prédire l’ampleur probable d’un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incendie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44351" y="3776480"/>
            <a:ext cx="7754505" cy="4858505"/>
            <a:chOff x="0" y="0"/>
            <a:chExt cx="707465" cy="4432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7465" cy="443255"/>
            </a:xfrm>
            <a:custGeom>
              <a:avLst/>
              <a:gdLst/>
              <a:ahLst/>
              <a:cxnLst/>
              <a:rect l="l" t="t" r="r" b="b"/>
              <a:pathLst>
                <a:path w="707465" h="443255">
                  <a:moveTo>
                    <a:pt x="19500" y="0"/>
                  </a:moveTo>
                  <a:lnTo>
                    <a:pt x="687966" y="0"/>
                  </a:lnTo>
                  <a:cubicBezTo>
                    <a:pt x="693137" y="0"/>
                    <a:pt x="698097" y="2054"/>
                    <a:pt x="701754" y="5711"/>
                  </a:cubicBezTo>
                  <a:cubicBezTo>
                    <a:pt x="705411" y="9368"/>
                    <a:pt x="707465" y="14328"/>
                    <a:pt x="707465" y="19500"/>
                  </a:cubicBezTo>
                  <a:lnTo>
                    <a:pt x="707465" y="423756"/>
                  </a:lnTo>
                  <a:cubicBezTo>
                    <a:pt x="707465" y="428927"/>
                    <a:pt x="705411" y="433887"/>
                    <a:pt x="701754" y="437544"/>
                  </a:cubicBezTo>
                  <a:cubicBezTo>
                    <a:pt x="698097" y="441201"/>
                    <a:pt x="693137" y="443255"/>
                    <a:pt x="687966" y="443255"/>
                  </a:cubicBezTo>
                  <a:lnTo>
                    <a:pt x="19500" y="443255"/>
                  </a:lnTo>
                  <a:cubicBezTo>
                    <a:pt x="14328" y="443255"/>
                    <a:pt x="9368" y="441201"/>
                    <a:pt x="5711" y="437544"/>
                  </a:cubicBezTo>
                  <a:cubicBezTo>
                    <a:pt x="2054" y="433887"/>
                    <a:pt x="0" y="428927"/>
                    <a:pt x="0" y="423756"/>
                  </a:cubicBezTo>
                  <a:lnTo>
                    <a:pt x="0" y="19500"/>
                  </a:lnTo>
                  <a:cubicBezTo>
                    <a:pt x="0" y="14328"/>
                    <a:pt x="2054" y="9368"/>
                    <a:pt x="5711" y="5711"/>
                  </a:cubicBezTo>
                  <a:cubicBezTo>
                    <a:pt x="9368" y="2054"/>
                    <a:pt x="14328" y="0"/>
                    <a:pt x="19500" y="0"/>
                  </a:cubicBezTo>
                  <a:close/>
                </a:path>
              </a:pathLst>
            </a:custGeom>
            <a:solidFill>
              <a:srgbClr val="302F2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07465" cy="4718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00690" y="4194800"/>
            <a:ext cx="7167015" cy="3022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développer un système d'intelligence prédictive complet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2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Base de données SQL consolidée : BDIFF + référentiels géographiques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(il faut consolider les codes des communes avec des coordonnées de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latitude et longitude)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15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Application Streamlit interactive : prototype de visualisation et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prédiction des risques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15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Modèle de Machine Learning : prédiction du risque par commune et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période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32320" y="971550"/>
            <a:ext cx="14137961" cy="228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Objectif</a:t>
            </a:r>
          </a:p>
          <a:p>
            <a:pPr algn="l">
              <a:lnSpc>
                <a:spcPts val="2800"/>
              </a:lnSpc>
            </a:pPr>
            <a:endParaRPr lang="en-US" sz="3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prototype d’application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 suivi des incendies et de prédiction des niveaux de risques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sur chaque commune de France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4596" y="4220979"/>
            <a:ext cx="3683450" cy="3723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 des communes de France :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code Insee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nom de la commune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code postal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latitude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longitude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population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superficie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département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région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densité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coordonnées géographiques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altitude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autres ...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05505" y="971550"/>
            <a:ext cx="1676991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15592" y="2713191"/>
            <a:ext cx="6423710" cy="34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2" tooltip="https://bdiff.agriculture.gouv.fr/incendies"/>
              </a:rPr>
              <a:t>Base de Données sur les Incendies de Forêts en France.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617" y="3653233"/>
            <a:ext cx="5992679" cy="790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75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 de donnée défini en 2006 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L’analyse se concentre donc sur</a:t>
            </a: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POST_2005_DATA_FILES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endParaRPr lang="en-US" sz="1500" b="1">
              <a:solidFill>
                <a:srgbClr val="004AA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5810" y="1801119"/>
            <a:ext cx="1116940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données SQL consolidée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BDIFF + référentiels géographiques (il faut consolider les codes des communes avec des coordonnées de latitude et longitude)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12064" y="971550"/>
            <a:ext cx="2863873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Livrables - BDD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5810" y="2439896"/>
            <a:ext cx="458799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>
                    <a:alpha val="4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 Streamlit interactive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prototype de visualisation et prédiction des risques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139738" y="5670193"/>
            <a:ext cx="9859892" cy="3943184"/>
            <a:chOff x="0" y="0"/>
            <a:chExt cx="2028784" cy="8113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28784" cy="811355"/>
            </a:xfrm>
            <a:custGeom>
              <a:avLst/>
              <a:gdLst/>
              <a:ahLst/>
              <a:cxnLst/>
              <a:rect l="l" t="t" r="r" b="b"/>
              <a:pathLst>
                <a:path w="2028784" h="811355">
                  <a:moveTo>
                    <a:pt x="15336" y="0"/>
                  </a:moveTo>
                  <a:lnTo>
                    <a:pt x="2013449" y="0"/>
                  </a:lnTo>
                  <a:cubicBezTo>
                    <a:pt x="2017516" y="0"/>
                    <a:pt x="2021417" y="1616"/>
                    <a:pt x="2024293" y="4492"/>
                  </a:cubicBezTo>
                  <a:cubicBezTo>
                    <a:pt x="2027169" y="7368"/>
                    <a:pt x="2028784" y="11268"/>
                    <a:pt x="2028784" y="15336"/>
                  </a:cubicBezTo>
                  <a:lnTo>
                    <a:pt x="2028784" y="796019"/>
                  </a:lnTo>
                  <a:cubicBezTo>
                    <a:pt x="2028784" y="800086"/>
                    <a:pt x="2027169" y="803987"/>
                    <a:pt x="2024293" y="806863"/>
                  </a:cubicBezTo>
                  <a:cubicBezTo>
                    <a:pt x="2021417" y="809739"/>
                    <a:pt x="2017516" y="811355"/>
                    <a:pt x="2013449" y="811355"/>
                  </a:cubicBezTo>
                  <a:lnTo>
                    <a:pt x="15336" y="811355"/>
                  </a:lnTo>
                  <a:cubicBezTo>
                    <a:pt x="11268" y="811355"/>
                    <a:pt x="7368" y="809739"/>
                    <a:pt x="4492" y="806863"/>
                  </a:cubicBezTo>
                  <a:cubicBezTo>
                    <a:pt x="1616" y="803987"/>
                    <a:pt x="0" y="800086"/>
                    <a:pt x="0" y="796019"/>
                  </a:cubicBezTo>
                  <a:lnTo>
                    <a:pt x="0" y="15336"/>
                  </a:lnTo>
                  <a:cubicBezTo>
                    <a:pt x="0" y="11268"/>
                    <a:pt x="1616" y="7368"/>
                    <a:pt x="4492" y="4492"/>
                  </a:cubicBezTo>
                  <a:cubicBezTo>
                    <a:pt x="7368" y="1616"/>
                    <a:pt x="11268" y="0"/>
                    <a:pt x="15336" y="0"/>
                  </a:cubicBezTo>
                  <a:close/>
                </a:path>
              </a:pathLst>
            </a:custGeom>
            <a:solidFill>
              <a:srgbClr val="302F2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28784" cy="839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572240" y="6089650"/>
            <a:ext cx="10687060" cy="316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données SQL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consolidée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et fonctionnelle en local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◦ Script de création des tables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◦ Pipeline d'ingestion automatisé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◦ Documentation du schéma de données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Consolidation SQL : intégration BDIFF + données géographiques INSEE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Téléchargement automatisé par départements (BDIFF limite 30k lignes)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Géocodage : jointure codes INSEE → coordonnées lat/lng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Qualité des données : validation, déduplication, gestion des valeurs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manquantes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5810" y="3126298"/>
            <a:ext cx="405608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>
                    <a:alpha val="4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 de Machine Learning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prédiction du risque par commune et période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92370" y="2077344"/>
            <a:ext cx="4599996" cy="4360165"/>
          </a:xfrm>
          <a:custGeom>
            <a:avLst/>
            <a:gdLst/>
            <a:ahLst/>
            <a:cxnLst/>
            <a:rect l="l" t="t" r="r" b="b"/>
            <a:pathLst>
              <a:path w="4599996" h="4360165">
                <a:moveTo>
                  <a:pt x="283440" y="0"/>
                </a:moveTo>
                <a:lnTo>
                  <a:pt x="141720" y="0"/>
                </a:lnTo>
                <a:cubicBezTo>
                  <a:pt x="63450" y="0"/>
                  <a:pt x="0" y="63450"/>
                  <a:pt x="0" y="141720"/>
                </a:cubicBezTo>
                <a:lnTo>
                  <a:pt x="0" y="4131565"/>
                </a:lnTo>
                <a:cubicBezTo>
                  <a:pt x="0" y="4257817"/>
                  <a:pt x="102348" y="4360165"/>
                  <a:pt x="228600" y="4360165"/>
                </a:cubicBezTo>
                <a:lnTo>
                  <a:pt x="4599996" y="4360165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3476852" y="4577528"/>
            <a:ext cx="6045279" cy="257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75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PostgreSQL pour bénéficier du requetage géospatial via PostGIS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76852" y="4996579"/>
            <a:ext cx="3811507" cy="257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75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titre de table et champ en snake_case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2370" y="2662992"/>
            <a:ext cx="283440" cy="2111212"/>
          </a:xfrm>
          <a:custGeom>
            <a:avLst/>
            <a:gdLst/>
            <a:ahLst/>
            <a:cxnLst/>
            <a:rect l="l" t="t" r="r" b="b"/>
            <a:pathLst>
              <a:path w="283440" h="2111212">
                <a:moveTo>
                  <a:pt x="207051" y="0"/>
                </a:moveTo>
                <a:lnTo>
                  <a:pt x="103526" y="0"/>
                </a:lnTo>
                <a:cubicBezTo>
                  <a:pt x="46350" y="0"/>
                  <a:pt x="0" y="46350"/>
                  <a:pt x="0" y="103526"/>
                </a:cubicBezTo>
                <a:lnTo>
                  <a:pt x="0" y="1969492"/>
                </a:lnTo>
                <a:cubicBezTo>
                  <a:pt x="0" y="2047762"/>
                  <a:pt x="63450" y="2111212"/>
                  <a:pt x="141720" y="2111212"/>
                </a:cubicBezTo>
                <a:lnTo>
                  <a:pt x="283440" y="2111212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75810" y="3840673"/>
            <a:ext cx="6703709" cy="5772704"/>
            <a:chOff x="0" y="0"/>
            <a:chExt cx="1379364" cy="1187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9364" cy="1187799"/>
            </a:xfrm>
            <a:custGeom>
              <a:avLst/>
              <a:gdLst/>
              <a:ahLst/>
              <a:cxnLst/>
              <a:rect l="l" t="t" r="r" b="b"/>
              <a:pathLst>
                <a:path w="1379364" h="1187799">
                  <a:moveTo>
                    <a:pt x="22556" y="0"/>
                  </a:moveTo>
                  <a:lnTo>
                    <a:pt x="1356808" y="0"/>
                  </a:lnTo>
                  <a:cubicBezTo>
                    <a:pt x="1362790" y="0"/>
                    <a:pt x="1368527" y="2376"/>
                    <a:pt x="1372758" y="6607"/>
                  </a:cubicBezTo>
                  <a:cubicBezTo>
                    <a:pt x="1376988" y="10837"/>
                    <a:pt x="1379364" y="16574"/>
                    <a:pt x="1379364" y="22556"/>
                  </a:cubicBezTo>
                  <a:lnTo>
                    <a:pt x="1379364" y="1165243"/>
                  </a:lnTo>
                  <a:cubicBezTo>
                    <a:pt x="1379364" y="1171225"/>
                    <a:pt x="1376988" y="1176963"/>
                    <a:pt x="1372758" y="1181193"/>
                  </a:cubicBezTo>
                  <a:cubicBezTo>
                    <a:pt x="1368527" y="1185423"/>
                    <a:pt x="1362790" y="1187799"/>
                    <a:pt x="1356808" y="1187799"/>
                  </a:cubicBezTo>
                  <a:lnTo>
                    <a:pt x="22556" y="1187799"/>
                  </a:lnTo>
                  <a:cubicBezTo>
                    <a:pt x="16574" y="1187799"/>
                    <a:pt x="10837" y="1185423"/>
                    <a:pt x="6607" y="1181193"/>
                  </a:cubicBezTo>
                  <a:cubicBezTo>
                    <a:pt x="2376" y="1176963"/>
                    <a:pt x="0" y="1171225"/>
                    <a:pt x="0" y="1165243"/>
                  </a:cubicBezTo>
                  <a:lnTo>
                    <a:pt x="0" y="22556"/>
                  </a:lnTo>
                  <a:cubicBezTo>
                    <a:pt x="0" y="16574"/>
                    <a:pt x="2376" y="10837"/>
                    <a:pt x="6607" y="6607"/>
                  </a:cubicBezTo>
                  <a:cubicBezTo>
                    <a:pt x="10837" y="2376"/>
                    <a:pt x="16574" y="0"/>
                    <a:pt x="22556" y="0"/>
                  </a:cubicBezTo>
                  <a:close/>
                </a:path>
              </a:pathLst>
            </a:custGeom>
            <a:solidFill>
              <a:srgbClr val="302F2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379364" cy="1216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81237" y="3977752"/>
            <a:ext cx="6498282" cy="56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Onglet 1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: </a:t>
            </a: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Cartographie &amp; Analyse Historique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Cartographie interactive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heatmap des incendies avec points géolocalisés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Filtres dynamiques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Sélecteur temporel (année/mois/saison)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Gravité (surface brûlée)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Type de végétation (forêt/maquis/autres)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Origine (naturelle/accidentelle/malveillante)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Statistiques descriptives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Évolution temporelle des surfaces brûlées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Répartition des causes par région/saison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Hotspots géographiques et saisonnalité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689070" y="3840673"/>
            <a:ext cx="8570230" cy="5772704"/>
            <a:chOff x="0" y="0"/>
            <a:chExt cx="1763422" cy="11877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63422" cy="1187799"/>
            </a:xfrm>
            <a:custGeom>
              <a:avLst/>
              <a:gdLst/>
              <a:ahLst/>
              <a:cxnLst/>
              <a:rect l="l" t="t" r="r" b="b"/>
              <a:pathLst>
                <a:path w="1763422" h="1187799">
                  <a:moveTo>
                    <a:pt x="17644" y="0"/>
                  </a:moveTo>
                  <a:lnTo>
                    <a:pt x="1745778" y="0"/>
                  </a:lnTo>
                  <a:cubicBezTo>
                    <a:pt x="1755522" y="0"/>
                    <a:pt x="1763422" y="7899"/>
                    <a:pt x="1763422" y="17644"/>
                  </a:cubicBezTo>
                  <a:lnTo>
                    <a:pt x="1763422" y="1170156"/>
                  </a:lnTo>
                  <a:cubicBezTo>
                    <a:pt x="1763422" y="1179900"/>
                    <a:pt x="1755522" y="1187799"/>
                    <a:pt x="1745778" y="1187799"/>
                  </a:cubicBezTo>
                  <a:lnTo>
                    <a:pt x="17644" y="1187799"/>
                  </a:lnTo>
                  <a:cubicBezTo>
                    <a:pt x="7899" y="1187799"/>
                    <a:pt x="0" y="1179900"/>
                    <a:pt x="0" y="1170156"/>
                  </a:cubicBezTo>
                  <a:lnTo>
                    <a:pt x="0" y="17644"/>
                  </a:lnTo>
                  <a:cubicBezTo>
                    <a:pt x="0" y="7899"/>
                    <a:pt x="7899" y="0"/>
                    <a:pt x="17644" y="0"/>
                  </a:cubicBezTo>
                  <a:close/>
                </a:path>
              </a:pathLst>
            </a:custGeom>
            <a:solidFill>
              <a:srgbClr val="302F2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763422" cy="1216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878863" y="3977752"/>
            <a:ext cx="8380300" cy="4226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Onglet 2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: </a:t>
            </a: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Prédiction des Risques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Modèle de clustering géo-temporel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prédiction du risque par commune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Variables prédictives :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Historique des incendies de la commune et communes voisines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Jour et mois dans l'année (saisonnalité)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Surface de végétation par type (selon définitions BDIFF)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Interface prédictive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sélection commune + période → score de risque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30964" y="971550"/>
            <a:ext cx="4026072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Livrable - Application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5810" y="1801119"/>
            <a:ext cx="1116940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>
                    <a:alpha val="4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données SQL consolidée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BDIFF + référentiels géographiques (il faut consolider les codes des communes avec des coordonnées de latitude et longitude)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5810" y="2439896"/>
            <a:ext cx="458799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 Streamlit interactive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prototype de visualisation et prédiction des risques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75810" y="3126298"/>
            <a:ext cx="405608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>
                    <a:alpha val="4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 de Machine Learning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prédiction du risque par commune et période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5810" y="1801119"/>
            <a:ext cx="1116940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>
                    <a:alpha val="4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données SQL consolidée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BDIFF + référentiels géographiques (il faut consolider les codes des communes avec des coordonnées de latitude et longitude)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75810" y="2439896"/>
            <a:ext cx="458799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>
                    <a:alpha val="4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 Streamlit interactive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prototype de visualisation et prédiction des risques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5810" y="3126298"/>
            <a:ext cx="4055408" cy="52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 de Machine Learning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prédiction du risque par commune et période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516" y="971550"/>
            <a:ext cx="3046968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Livrable - model</a:t>
            </a:r>
          </a:p>
        </p:txBody>
      </p:sp>
      <p:sp>
        <p:nvSpPr>
          <p:cNvPr id="6" name="Freeform 6"/>
          <p:cNvSpPr/>
          <p:nvPr/>
        </p:nvSpPr>
        <p:spPr>
          <a:xfrm>
            <a:off x="1492370" y="3402474"/>
            <a:ext cx="1888092" cy="1343903"/>
          </a:xfrm>
          <a:custGeom>
            <a:avLst/>
            <a:gdLst/>
            <a:ahLst/>
            <a:cxnLst/>
            <a:rect l="l" t="t" r="r" b="b"/>
            <a:pathLst>
              <a:path w="1888092" h="1343903">
                <a:moveTo>
                  <a:pt x="283440" y="0"/>
                </a:moveTo>
                <a:lnTo>
                  <a:pt x="141720" y="0"/>
                </a:lnTo>
                <a:cubicBezTo>
                  <a:pt x="63450" y="0"/>
                  <a:pt x="0" y="63451"/>
                  <a:pt x="0" y="141721"/>
                </a:cubicBezTo>
                <a:lnTo>
                  <a:pt x="0" y="1115304"/>
                </a:lnTo>
                <a:cubicBezTo>
                  <a:pt x="0" y="1175932"/>
                  <a:pt x="24085" y="1234077"/>
                  <a:pt x="66956" y="1276949"/>
                </a:cubicBezTo>
                <a:cubicBezTo>
                  <a:pt x="109826" y="1319819"/>
                  <a:pt x="167972" y="1343904"/>
                  <a:pt x="228600" y="1343904"/>
                </a:cubicBezTo>
                <a:lnTo>
                  <a:pt x="1888092" y="1343904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3380462" y="4350539"/>
            <a:ext cx="11119562" cy="2953444"/>
            <a:chOff x="0" y="0"/>
            <a:chExt cx="2287976" cy="607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7976" cy="607704"/>
            </a:xfrm>
            <a:custGeom>
              <a:avLst/>
              <a:gdLst/>
              <a:ahLst/>
              <a:cxnLst/>
              <a:rect l="l" t="t" r="r" b="b"/>
              <a:pathLst>
                <a:path w="2287976" h="607704">
                  <a:moveTo>
                    <a:pt x="13599" y="0"/>
                  </a:moveTo>
                  <a:lnTo>
                    <a:pt x="2274377" y="0"/>
                  </a:lnTo>
                  <a:cubicBezTo>
                    <a:pt x="2281887" y="0"/>
                    <a:pt x="2287976" y="6088"/>
                    <a:pt x="2287976" y="13599"/>
                  </a:cubicBezTo>
                  <a:lnTo>
                    <a:pt x="2287976" y="594106"/>
                  </a:lnTo>
                  <a:cubicBezTo>
                    <a:pt x="2287976" y="601616"/>
                    <a:pt x="2281887" y="607704"/>
                    <a:pt x="2274377" y="607704"/>
                  </a:cubicBezTo>
                  <a:lnTo>
                    <a:pt x="13599" y="607704"/>
                  </a:lnTo>
                  <a:cubicBezTo>
                    <a:pt x="6088" y="607704"/>
                    <a:pt x="0" y="601616"/>
                    <a:pt x="0" y="594106"/>
                  </a:cubicBezTo>
                  <a:lnTo>
                    <a:pt x="0" y="13599"/>
                  </a:lnTo>
                  <a:cubicBezTo>
                    <a:pt x="0" y="6088"/>
                    <a:pt x="6088" y="0"/>
                    <a:pt x="13599" y="0"/>
                  </a:cubicBezTo>
                  <a:close/>
                </a:path>
              </a:pathLst>
            </a:custGeom>
            <a:solidFill>
              <a:srgbClr val="302F2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287976" cy="636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615523" y="4583526"/>
            <a:ext cx="10588702" cy="246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l'hypothèse que le risque d'incendie dans une commune dépend :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1. De son historique propre : fréquence et intensité des incendies passés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 De son voisinage spatial : risque des communes limitrophes (contagion géographique)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3. De la saisonnalité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2706253"/>
          <a:ext cx="7315200" cy="6905625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Rôle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outil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environnement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uv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programmation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python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EDA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jupyter notebook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prep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pandas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viz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matplotlib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Modélisation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scikit learn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SQL ALchemy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0567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BDD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PostgreSQL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PostGIS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250286" y="971550"/>
            <a:ext cx="5787428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Stack technique et convention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78217" y="1899795"/>
            <a:ext cx="10790340" cy="34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snake case pour les noms de fichier           Fichier config.py à la racine avec les constantes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944100" y="2706253"/>
          <a:ext cx="7315200" cy="6905625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Rôle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outil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Front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streamlit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déploiement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docker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Linter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Ruff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Tracking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MLFlow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cartographie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folium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calcul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google colab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567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transfert ggogle colab/ container postgres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ngrok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749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2776" y="1467138"/>
            <a:ext cx="13542333" cy="6679664"/>
          </a:xfrm>
          <a:custGeom>
            <a:avLst/>
            <a:gdLst/>
            <a:ahLst/>
            <a:cxnLst/>
            <a:rect l="l" t="t" r="r" b="b"/>
            <a:pathLst>
              <a:path w="13542333" h="6679664">
                <a:moveTo>
                  <a:pt x="0" y="0"/>
                </a:moveTo>
                <a:lnTo>
                  <a:pt x="13542333" y="0"/>
                </a:lnTo>
                <a:lnTo>
                  <a:pt x="13542333" y="6679665"/>
                </a:lnTo>
                <a:lnTo>
                  <a:pt x="0" y="66796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6946" y="5235649"/>
            <a:ext cx="4753399" cy="4114800"/>
            <a:chOff x="0" y="0"/>
            <a:chExt cx="6337866" cy="548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7866" cy="5486400"/>
            </a:xfrm>
            <a:custGeom>
              <a:avLst/>
              <a:gdLst/>
              <a:ahLst/>
              <a:cxnLst/>
              <a:rect l="l" t="t" r="r" b="b"/>
              <a:pathLst>
                <a:path w="6337866" h="5486400">
                  <a:moveTo>
                    <a:pt x="0" y="0"/>
                  </a:moveTo>
                  <a:lnTo>
                    <a:pt x="6337866" y="0"/>
                  </a:lnTo>
                  <a:lnTo>
                    <a:pt x="633786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6347" y="-76200"/>
              <a:ext cx="6201519" cy="880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2023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79139" y="5235649"/>
            <a:ext cx="4651139" cy="4040001"/>
            <a:chOff x="0" y="0"/>
            <a:chExt cx="6201519" cy="53866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01519" cy="5386668"/>
            </a:xfrm>
            <a:custGeom>
              <a:avLst/>
              <a:gdLst/>
              <a:ahLst/>
              <a:cxnLst/>
              <a:rect l="l" t="t" r="r" b="b"/>
              <a:pathLst>
                <a:path w="6201519" h="5386668">
                  <a:moveTo>
                    <a:pt x="0" y="0"/>
                  </a:moveTo>
                  <a:lnTo>
                    <a:pt x="6201519" y="0"/>
                  </a:lnTo>
                  <a:lnTo>
                    <a:pt x="6201519" y="5386668"/>
                  </a:lnTo>
                  <a:lnTo>
                    <a:pt x="0" y="538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6201519" cy="880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2024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67000" y="5235649"/>
            <a:ext cx="4834054" cy="4040001"/>
            <a:chOff x="0" y="0"/>
            <a:chExt cx="6445405" cy="53866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45405" cy="5386668"/>
            </a:xfrm>
            <a:custGeom>
              <a:avLst/>
              <a:gdLst/>
              <a:ahLst/>
              <a:cxnLst/>
              <a:rect l="l" t="t" r="r" b="b"/>
              <a:pathLst>
                <a:path w="6445405" h="5386668">
                  <a:moveTo>
                    <a:pt x="0" y="0"/>
                  </a:moveTo>
                  <a:lnTo>
                    <a:pt x="6445405" y="0"/>
                  </a:lnTo>
                  <a:lnTo>
                    <a:pt x="6445405" y="5386668"/>
                  </a:lnTo>
                  <a:lnTo>
                    <a:pt x="0" y="538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587" t="-856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3886" y="-76200"/>
              <a:ext cx="5843161" cy="880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567000" y="1028700"/>
            <a:ext cx="4834054" cy="4054909"/>
            <a:chOff x="0" y="0"/>
            <a:chExt cx="6445405" cy="54065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45405" cy="5406545"/>
            </a:xfrm>
            <a:custGeom>
              <a:avLst/>
              <a:gdLst/>
              <a:ahLst/>
              <a:cxnLst/>
              <a:rect l="l" t="t" r="r" b="b"/>
              <a:pathLst>
                <a:path w="6445405" h="5406545">
                  <a:moveTo>
                    <a:pt x="0" y="0"/>
                  </a:moveTo>
                  <a:lnTo>
                    <a:pt x="6445405" y="0"/>
                  </a:lnTo>
                  <a:lnTo>
                    <a:pt x="6445405" y="5406545"/>
                  </a:lnTo>
                  <a:lnTo>
                    <a:pt x="0" y="5406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4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943" y="-76200"/>
              <a:ext cx="6201519" cy="880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07714" y="1066100"/>
            <a:ext cx="4572868" cy="4040001"/>
            <a:chOff x="0" y="0"/>
            <a:chExt cx="6097157" cy="53866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97157" cy="5386668"/>
            </a:xfrm>
            <a:custGeom>
              <a:avLst/>
              <a:gdLst/>
              <a:ahLst/>
              <a:cxnLst/>
              <a:rect l="l" t="t" r="r" b="b"/>
              <a:pathLst>
                <a:path w="6097157" h="5386668">
                  <a:moveTo>
                    <a:pt x="0" y="0"/>
                  </a:moveTo>
                  <a:lnTo>
                    <a:pt x="6097157" y="0"/>
                  </a:lnTo>
                  <a:lnTo>
                    <a:pt x="6097157" y="5386668"/>
                  </a:lnTo>
                  <a:lnTo>
                    <a:pt x="0" y="538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6097157" cy="880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86946" y="1070003"/>
            <a:ext cx="4753399" cy="4032194"/>
            <a:chOff x="0" y="0"/>
            <a:chExt cx="6337866" cy="53762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37866" cy="5376258"/>
            </a:xfrm>
            <a:custGeom>
              <a:avLst/>
              <a:gdLst/>
              <a:ahLst/>
              <a:cxnLst/>
              <a:rect l="l" t="t" r="r" b="b"/>
              <a:pathLst>
                <a:path w="6337866" h="5376258">
                  <a:moveTo>
                    <a:pt x="0" y="0"/>
                  </a:moveTo>
                  <a:lnTo>
                    <a:pt x="6337866" y="0"/>
                  </a:lnTo>
                  <a:lnTo>
                    <a:pt x="6337866" y="5376258"/>
                  </a:lnTo>
                  <a:lnTo>
                    <a:pt x="0" y="5376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354" y="-29933"/>
              <a:ext cx="6097157" cy="880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2020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1598" y="2832227"/>
            <a:ext cx="14344804" cy="5016536"/>
          </a:xfrm>
          <a:custGeom>
            <a:avLst/>
            <a:gdLst/>
            <a:ahLst/>
            <a:cxnLst/>
            <a:rect l="l" t="t" r="r" b="b"/>
            <a:pathLst>
              <a:path w="14344804" h="5016536">
                <a:moveTo>
                  <a:pt x="0" y="0"/>
                </a:moveTo>
                <a:lnTo>
                  <a:pt x="14344804" y="0"/>
                </a:lnTo>
                <a:lnTo>
                  <a:pt x="14344804" y="5016535"/>
                </a:lnTo>
                <a:lnTo>
                  <a:pt x="0" y="5016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33401" y="1223618"/>
            <a:ext cx="14421197" cy="5627784"/>
          </a:xfrm>
          <a:custGeom>
            <a:avLst/>
            <a:gdLst/>
            <a:ahLst/>
            <a:cxnLst/>
            <a:rect l="l" t="t" r="r" b="b"/>
            <a:pathLst>
              <a:path w="14421197" h="5627784">
                <a:moveTo>
                  <a:pt x="0" y="0"/>
                </a:moveTo>
                <a:lnTo>
                  <a:pt x="14421198" y="0"/>
                </a:lnTo>
                <a:lnTo>
                  <a:pt x="14421198" y="5627784"/>
                </a:lnTo>
                <a:lnTo>
                  <a:pt x="0" y="562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588247" y="6851402"/>
            <a:ext cx="10671053" cy="3280361"/>
          </a:xfrm>
          <a:custGeom>
            <a:avLst/>
            <a:gdLst/>
            <a:ahLst/>
            <a:cxnLst/>
            <a:rect l="l" t="t" r="r" b="b"/>
            <a:pathLst>
              <a:path w="10671053" h="3280361">
                <a:moveTo>
                  <a:pt x="0" y="0"/>
                </a:moveTo>
                <a:lnTo>
                  <a:pt x="10671053" y="0"/>
                </a:lnTo>
                <a:lnTo>
                  <a:pt x="10671053" y="3280361"/>
                </a:lnTo>
                <a:lnTo>
                  <a:pt x="0" y="328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195739"/>
            <a:ext cx="16230600" cy="6784148"/>
          </a:xfrm>
          <a:custGeom>
            <a:avLst/>
            <a:gdLst/>
            <a:ahLst/>
            <a:cxnLst/>
            <a:rect l="l" t="t" r="r" b="b"/>
            <a:pathLst>
              <a:path w="16230600" h="6784148">
                <a:moveTo>
                  <a:pt x="0" y="0"/>
                </a:moveTo>
                <a:lnTo>
                  <a:pt x="16230600" y="0"/>
                </a:lnTo>
                <a:lnTo>
                  <a:pt x="16230600" y="6784148"/>
                </a:lnTo>
                <a:lnTo>
                  <a:pt x="0" y="6784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9567" y="1133853"/>
            <a:ext cx="15488866" cy="8124447"/>
          </a:xfrm>
          <a:custGeom>
            <a:avLst/>
            <a:gdLst/>
            <a:ahLst/>
            <a:cxnLst/>
            <a:rect l="l" t="t" r="r" b="b"/>
            <a:pathLst>
              <a:path w="15488866" h="8124447">
                <a:moveTo>
                  <a:pt x="0" y="0"/>
                </a:moveTo>
                <a:lnTo>
                  <a:pt x="15488866" y="0"/>
                </a:lnTo>
                <a:lnTo>
                  <a:pt x="15488866" y="8124447"/>
                </a:lnTo>
                <a:lnTo>
                  <a:pt x="0" y="8124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2653541"/>
          <a:ext cx="2806537" cy="1504950"/>
        </p:xfrm>
        <a:graphic>
          <a:graphicData uri="http://schemas.openxmlformats.org/drawingml/2006/table">
            <a:tbl>
              <a:tblPr/>
              <a:tblGrid>
                <a:gridCol w="106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2496703" y="2653541"/>
          <a:ext cx="4620367" cy="5343525"/>
        </p:xfrm>
        <a:graphic>
          <a:graphicData uri="http://schemas.openxmlformats.org/drawingml/2006/table">
            <a:tbl>
              <a:tblPr/>
              <a:tblGrid>
                <a:gridCol w="2909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137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incendie</a:t>
                      </a:r>
                      <a:endParaRPr lang="en-US" sz="1100"/>
                    </a:p>
                    <a:p>
                      <a:pPr algn="ctr">
                        <a:lnSpc>
                          <a:spcPts val="1399"/>
                        </a:lnSpc>
                      </a:pPr>
                      <a:r>
                        <a:rPr lang="en-US" sz="999" i="1">
                          <a:solidFill>
                            <a:srgbClr val="FFFFFF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BDIFF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69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69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commune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69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69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69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69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superficie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404439" y="2653541"/>
          <a:ext cx="2754714" cy="4410075"/>
        </p:xfrm>
        <a:graphic>
          <a:graphicData uri="http://schemas.openxmlformats.org/drawingml/2006/table">
            <a:tbl>
              <a:tblPr/>
              <a:tblGrid>
                <a:gridCol w="1028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5080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Localisation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villes qui ont eu un incendie</a:t>
                      </a:r>
                    </a:p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en-US" sz="1000" i="1">
                          <a:solidFill>
                            <a:srgbClr val="FFFFFF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maille communale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81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81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commune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81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81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054347" y="2653541"/>
          <a:ext cx="2754714" cy="2676525"/>
        </p:xfrm>
        <a:graphic>
          <a:graphicData uri="http://schemas.openxmlformats.org/drawingml/2006/table">
            <a:tbl>
              <a:tblPr/>
              <a:tblGrid>
                <a:gridCol w="1028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849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commune (ville)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liste INSEE</a:t>
                      </a:r>
                    </a:p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en-US" sz="1000" i="1">
                          <a:solidFill>
                            <a:srgbClr val="FFFFFF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maille communale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01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01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7787151" y="3099375"/>
            <a:ext cx="1617288" cy="118709"/>
          </a:xfrm>
          <a:custGeom>
            <a:avLst/>
            <a:gdLst/>
            <a:ahLst/>
            <a:cxnLst/>
            <a:rect l="l" t="t" r="r" b="b"/>
            <a:pathLst>
              <a:path w="1617288" h="118709">
                <a:moveTo>
                  <a:pt x="0" y="80380"/>
                </a:moveTo>
                <a:quadBezTo>
                  <a:pt x="813318" y="-97683"/>
                  <a:pt x="1617288" y="118709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28700" y="4768781"/>
          <a:ext cx="2806537" cy="4489519"/>
        </p:xfrm>
        <a:graphic>
          <a:graphicData uri="http://schemas.openxmlformats.org/drawingml/2006/table">
            <a:tbl>
              <a:tblPr/>
              <a:tblGrid>
                <a:gridCol w="106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970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score_de_risque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0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id_commune + 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38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cluster_distance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32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cluster_temporel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70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70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score_de_risque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6665598" y="971550"/>
            <a:ext cx="4956804" cy="87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BDD PostgreSQL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principes de base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43637" y="2809875"/>
            <a:ext cx="1660801" cy="257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à 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893858" y="8845946"/>
            <a:ext cx="4365442" cy="824708"/>
            <a:chOff x="0" y="0"/>
            <a:chExt cx="5820589" cy="109961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820589" cy="1099611"/>
              <a:chOff x="0" y="0"/>
              <a:chExt cx="898239" cy="16969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98239" cy="169693"/>
              </a:xfrm>
              <a:custGeom>
                <a:avLst/>
                <a:gdLst/>
                <a:ahLst/>
                <a:cxnLst/>
                <a:rect l="l" t="t" r="r" b="b"/>
                <a:pathLst>
                  <a:path w="898239" h="169693">
                    <a:moveTo>
                      <a:pt x="34638" y="0"/>
                    </a:moveTo>
                    <a:lnTo>
                      <a:pt x="863601" y="0"/>
                    </a:lnTo>
                    <a:cubicBezTo>
                      <a:pt x="872788" y="0"/>
                      <a:pt x="881598" y="3649"/>
                      <a:pt x="888094" y="10145"/>
                    </a:cubicBezTo>
                    <a:cubicBezTo>
                      <a:pt x="894590" y="16641"/>
                      <a:pt x="898239" y="25451"/>
                      <a:pt x="898239" y="34638"/>
                    </a:cubicBezTo>
                    <a:lnTo>
                      <a:pt x="898239" y="135055"/>
                    </a:lnTo>
                    <a:cubicBezTo>
                      <a:pt x="898239" y="154185"/>
                      <a:pt x="882731" y="169693"/>
                      <a:pt x="863601" y="169693"/>
                    </a:cubicBezTo>
                    <a:lnTo>
                      <a:pt x="34638" y="169693"/>
                    </a:lnTo>
                    <a:cubicBezTo>
                      <a:pt x="15508" y="169693"/>
                      <a:pt x="0" y="154185"/>
                      <a:pt x="0" y="135055"/>
                    </a:cubicBezTo>
                    <a:lnTo>
                      <a:pt x="0" y="34638"/>
                    </a:lnTo>
                    <a:cubicBezTo>
                      <a:pt x="0" y="15508"/>
                      <a:pt x="15508" y="0"/>
                      <a:pt x="34638" y="0"/>
                    </a:cubicBezTo>
                    <a:close/>
                  </a:path>
                </a:pathLst>
              </a:custGeom>
              <a:solidFill>
                <a:srgbClr val="4C4C4C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898239" cy="1982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55619" y="102713"/>
              <a:ext cx="5410926" cy="688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Connexion :</a:t>
              </a:r>
            </a:p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psql -h localhost -p 5433 -U user -d mlflow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0639" y="349922"/>
            <a:ext cx="17183849" cy="9587156"/>
          </a:xfrm>
          <a:custGeom>
            <a:avLst/>
            <a:gdLst/>
            <a:ahLst/>
            <a:cxnLst/>
            <a:rect l="l" t="t" r="r" b="b"/>
            <a:pathLst>
              <a:path w="17183849" h="9587156">
                <a:moveTo>
                  <a:pt x="0" y="0"/>
                </a:moveTo>
                <a:lnTo>
                  <a:pt x="17183849" y="0"/>
                </a:lnTo>
                <a:lnTo>
                  <a:pt x="17183849" y="9587156"/>
                </a:lnTo>
                <a:lnTo>
                  <a:pt x="0" y="95871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419462" y="560381"/>
            <a:ext cx="4956804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BDD PostgreSQL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4350" y="1930906"/>
            <a:ext cx="17259300" cy="3212594"/>
          </a:xfrm>
          <a:custGeom>
            <a:avLst/>
            <a:gdLst/>
            <a:ahLst/>
            <a:cxnLst/>
            <a:rect l="l" t="t" r="r" b="b"/>
            <a:pathLst>
              <a:path w="17259300" h="3212594">
                <a:moveTo>
                  <a:pt x="0" y="0"/>
                </a:moveTo>
                <a:lnTo>
                  <a:pt x="17259300" y="0"/>
                </a:lnTo>
                <a:lnTo>
                  <a:pt x="17259300" y="3212594"/>
                </a:lnTo>
                <a:lnTo>
                  <a:pt x="0" y="3212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1498" b="-7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2535758" y="5955248"/>
            <a:ext cx="13723947" cy="3303052"/>
          </a:xfrm>
          <a:custGeom>
            <a:avLst/>
            <a:gdLst/>
            <a:ahLst/>
            <a:cxnLst/>
            <a:rect l="l" t="t" r="r" b="b"/>
            <a:pathLst>
              <a:path w="13723947" h="3303052">
                <a:moveTo>
                  <a:pt x="0" y="0"/>
                </a:moveTo>
                <a:lnTo>
                  <a:pt x="13723947" y="0"/>
                </a:lnTo>
                <a:lnTo>
                  <a:pt x="13723947" y="3303052"/>
                </a:lnTo>
                <a:lnTo>
                  <a:pt x="0" y="330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289" t="-2137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419462" y="560381"/>
            <a:ext cx="4956804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02392" y="971550"/>
            <a:ext cx="6683216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benchmark MLflow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391763" y="1853270"/>
            <a:ext cx="5504475" cy="352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Docker Compose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                 │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┌────── ─┼──────┐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│                            │                       │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▼                            ▼                      ▼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PostgreSQL         MLflow          Streamlit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+ PostGIS                                           │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│                                                      │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│                        tracking              │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└────── MLflow ────┘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39867" y="6498394"/>
            <a:ext cx="3500053" cy="1298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postgis     → 5433:5432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streamlit   → 8501:8501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mlflow      → 5000:5000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36015" y="6488869"/>
            <a:ext cx="4499186" cy="86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mlflow.db       → métadonnées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mlruns/         → artefacts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85215" y="2830460"/>
            <a:ext cx="8517570" cy="457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 TABLE incendies.commune_jour (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id_commune int4 NOT NULL,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date_jour date NOT NULL,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has_fire int2 NULL,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nb_incendies_30j int4 NULL,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nb_incendies_90j int4 NULL,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nb_incendies_365j int4 NULL,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surface_totale_5a int4 NULL,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buffer_10km int4 NULL,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buffer_20km int4 NULL,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buffer_50km int4 NULL,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CONSTRAINT pk_commune_jour PRIMARY KEY (id_commune, date_jour)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);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90424" y="971550"/>
            <a:ext cx="6707153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Grille spatio temporelle journalière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1851" y="2349785"/>
            <a:ext cx="14664297" cy="5988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Dans </a:t>
            </a: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table_c_j.ipynb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des variables ont été calculées avec des dates futures.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Pour éviter une fuite temporelle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il a fallut vérifier et corriger ces calculs en BDD via </a:t>
            </a: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scripts/maj.py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nb_incendies_30j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nb_incendies_90j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nb_incendies_365j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utilisent maintenant &lt; :date_jour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surface_totale_5a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utilise maintenant : date_jour - 1825 jours &lt;= date_incendie &lt; date_jour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1805" lvl="1" indent="-215903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buffer_10km</a:t>
            </a:r>
          </a:p>
          <a:p>
            <a:pPr marL="431805" lvl="1" indent="-215903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buffer_20km</a:t>
            </a:r>
          </a:p>
          <a:p>
            <a:pPr marL="431805" lvl="1" indent="-215903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buffer_50km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utilisent maintenant : date_jour - 30 jours &lt;= date_incendie &lt; date_jour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548340" y="971550"/>
            <a:ext cx="3191320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 engineering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09563" y="2501450"/>
            <a:ext cx="13201876" cy="34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BF63"/>
                </a:solidFill>
                <a:latin typeface="Open Sans"/>
                <a:ea typeface="Open Sans"/>
                <a:cs typeface="Open Sans"/>
                <a:sym typeface="Open Sans"/>
              </a:rPr>
              <a:t>Sous-échantillonnage stratifié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                           </a:t>
            </a:r>
            <a:r>
              <a:rPr lang="en-US" sz="2000">
                <a:solidFill>
                  <a:srgbClr val="00BF63"/>
                </a:solidFill>
                <a:latin typeface="Open Sans"/>
                <a:ea typeface="Open Sans"/>
                <a:cs typeface="Open Sans"/>
                <a:sym typeface="Open Sans"/>
              </a:rPr>
              <a:t>pour concevoir et valider rapidement les modèles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33363" y="1897793"/>
            <a:ext cx="14535638" cy="34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 250 millions de lignes pour faire du GridSearch                           asphyxie de la mémoire RAM, temps d'attente rédhibitoires  </a:t>
            </a:r>
          </a:p>
        </p:txBody>
      </p:sp>
      <p:sp>
        <p:nvSpPr>
          <p:cNvPr id="4" name="AutoShape 4"/>
          <p:cNvSpPr/>
          <p:nvPr/>
        </p:nvSpPr>
        <p:spPr>
          <a:xfrm>
            <a:off x="8257394" y="2096234"/>
            <a:ext cx="1443788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/>
          <p:nvPr/>
        </p:nvSpPr>
        <p:spPr>
          <a:xfrm>
            <a:off x="8257394" y="2742351"/>
            <a:ext cx="144378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8216233" y="971550"/>
            <a:ext cx="1855534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Split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14746" y="7381555"/>
            <a:ext cx="10161179" cy="70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extrait un ratio contrôlé de négatifs pour garder les cas positifs d'incendies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Recherche d'hyperparamètres sur cette fraction pour identifier l'architecture optimale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74672" y="3157141"/>
            <a:ext cx="13649598" cy="34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Réentraînement final sur la base complète ou sur un volume d'entraînement robuste pour le modèle de production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509563" y="5143500"/>
            <a:ext cx="8544870" cy="1986664"/>
            <a:chOff x="0" y="0"/>
            <a:chExt cx="11393160" cy="2648885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1393160" cy="2648885"/>
              <a:chOff x="0" y="0"/>
              <a:chExt cx="1541264" cy="35834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64" cy="358341"/>
              </a:xfrm>
              <a:custGeom>
                <a:avLst/>
                <a:gdLst/>
                <a:ahLst/>
                <a:cxnLst/>
                <a:rect l="l" t="t" r="r" b="b"/>
                <a:pathLst>
                  <a:path w="1541264" h="358341">
                    <a:moveTo>
                      <a:pt x="17696" y="0"/>
                    </a:moveTo>
                    <a:lnTo>
                      <a:pt x="1523568" y="0"/>
                    </a:lnTo>
                    <a:cubicBezTo>
                      <a:pt x="1533341" y="0"/>
                      <a:pt x="1541264" y="7923"/>
                      <a:pt x="1541264" y="17696"/>
                    </a:cubicBezTo>
                    <a:lnTo>
                      <a:pt x="1541264" y="340645"/>
                    </a:lnTo>
                    <a:cubicBezTo>
                      <a:pt x="1541264" y="350418"/>
                      <a:pt x="1533341" y="358341"/>
                      <a:pt x="1523568" y="358341"/>
                    </a:cubicBezTo>
                    <a:lnTo>
                      <a:pt x="17696" y="358341"/>
                    </a:lnTo>
                    <a:cubicBezTo>
                      <a:pt x="7923" y="358341"/>
                      <a:pt x="0" y="350418"/>
                      <a:pt x="0" y="340645"/>
                    </a:cubicBezTo>
                    <a:lnTo>
                      <a:pt x="0" y="17696"/>
                    </a:lnTo>
                    <a:cubicBezTo>
                      <a:pt x="0" y="7923"/>
                      <a:pt x="7923" y="0"/>
                      <a:pt x="17696" y="0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541264" cy="4059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29001" y="144713"/>
              <a:ext cx="11135158" cy="2329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=== Distribution de la variable cible (target_occurrence) ===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Mois sans incendie (0) : 2 279 185 (98.19%)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Mois avec incendie (1) : 42 095 (1.81%)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endPara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Ratio de déséquilibre : 1 mois avec feu pour environ 54 mois normaux.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8390" y="4778575"/>
            <a:ext cx="14831220" cy="34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découpage spatial (Validation géographique)                      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25062" y="971550"/>
            <a:ext cx="2837875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 Test Split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8390" y="2103537"/>
            <a:ext cx="14831220" cy="34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modèle prédit le futur à partir du passé, le jeu d'entraînement et le jeu de test ne doivent jamais être mélangés aléatoirement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8390" y="2685905"/>
            <a:ext cx="7993878" cy="105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 : Les années les plus anciennes                                   &lt; 2022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Validation (pour le GridSearch) : Une année charnière         2023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 final (Hors-temps) : Les années les plus récentes       &gt; 2024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8390" y="5451683"/>
            <a:ext cx="13450257" cy="70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risque d'incendie dépend fortement de la géographie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pour valider le modèle, des communes du jeu de test doivent n’avoir jamais été vues pendant l'entraînement.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8390" y="6639532"/>
            <a:ext cx="14831220" cy="1736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    &lt;= 2022-12-31    80% communes                1 935 649 lignes     Incendies : 3 024         0.16%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 Grid Search (1:10)                                                    33 264 lignes         scale_pos_weight: 10.00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        &lt;= 2023-12-31    80% communes                   276 305 lignes     Incendies :     697         0.25%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      &gt;= 2024-01-01    100% communes futures   691 526 lignes     Incendies :     970         0.14%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4711" y="971550"/>
            <a:ext cx="15178577" cy="8642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split spatio temporel</a:t>
            </a:r>
          </a:p>
          <a:p>
            <a:pPr algn="ctr">
              <a:lnSpc>
                <a:spcPts val="4200"/>
              </a:lnSpc>
            </a:pPr>
            <a:endParaRPr lang="en-US" sz="3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4200"/>
              </a:lnSpc>
            </a:pPr>
            <a:endParaRPr lang="en-US" sz="3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cumul des trois sous-ensembles (1 935 649 + 276 305 + 138 159) donne 2 350 113 lignes.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dataset initial = 3 455 738 lignes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il y a un écart d'environ 1,1 million d'observations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Mathématiquement cohérent avec la stratégie d'un split spatio-temporel strict.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double filtrage croisé :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Exclure le passé des 20% de communes inédites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pour éviter toute fuite de données spatiales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 le modèle s'entraîne sur l'historique 2016-2023 de ces communes, elles ne seront plus "inédites" lors de l'évaluation finale. Leurs lignes historiques sont donc retirées de la phase d'apprentissage.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Exclure le futur des 80% de communes d'apprentissage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le jeu de test évalue le modèle exclusivement sur un territoire totalement inconnu (les 20% de communes réservées). Les données 2024-2025 des villes connues sont donc écartées.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709044" y="4633414"/>
          <a:ext cx="8196203" cy="2160294"/>
        </p:xfrm>
        <a:graphic>
          <a:graphicData uri="http://schemas.openxmlformats.org/drawingml/2006/table">
            <a:tbl>
              <a:tblPr/>
              <a:tblGrid>
                <a:gridCol w="2150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1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3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2853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Dimension Temporelle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Communes d'Apprentissage (80%)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Communes Inédites (20%)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720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Passé (2016 - 2023)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👉 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TRAIN &amp; VAL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❌ 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Exclu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(Masqué à l'entraînement)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20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Futur (2024 - 2025)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❌ 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Exclu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(Masqué au test)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👉 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TEST FINAL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67925"/>
            <a:ext cx="16638357" cy="3933591"/>
          </a:xfrm>
          <a:custGeom>
            <a:avLst/>
            <a:gdLst/>
            <a:ahLst/>
            <a:cxnLst/>
            <a:rect l="l" t="t" r="r" b="b"/>
            <a:pathLst>
              <a:path w="16638357" h="3933591">
                <a:moveTo>
                  <a:pt x="0" y="0"/>
                </a:moveTo>
                <a:lnTo>
                  <a:pt x="16638357" y="0"/>
                </a:lnTo>
                <a:lnTo>
                  <a:pt x="16638357" y="3933591"/>
                </a:lnTo>
                <a:lnTo>
                  <a:pt x="0" y="3933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8566" y="971550"/>
            <a:ext cx="12690867" cy="1047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1er résultats - maille mensuelle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23057" y="6164634"/>
            <a:ext cx="4049642" cy="186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Meilleur modèle : LightGBM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pr_auc_2023   : 0.15303073502914658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roc_auc_2023 : 0.8136162706145742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pr_auc_test     : 0.12424775493176246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roc_auc_test    : 0.7719287570488254}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610" y="3045399"/>
            <a:ext cx="15064114" cy="3621181"/>
          </a:xfrm>
          <a:custGeom>
            <a:avLst/>
            <a:gdLst/>
            <a:ahLst/>
            <a:cxnLst/>
            <a:rect l="l" t="t" r="r" b="b"/>
            <a:pathLst>
              <a:path w="15064114" h="3621181">
                <a:moveTo>
                  <a:pt x="0" y="0"/>
                </a:moveTo>
                <a:lnTo>
                  <a:pt x="15064114" y="0"/>
                </a:lnTo>
                <a:lnTo>
                  <a:pt x="15064114" y="3621181"/>
                </a:lnTo>
                <a:lnTo>
                  <a:pt x="0" y="3621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8566" y="971550"/>
            <a:ext cx="12690867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maille quotidienne - PACA - Coarse Search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8374" y="4811772"/>
            <a:ext cx="16864270" cy="2308297"/>
          </a:xfrm>
          <a:custGeom>
            <a:avLst/>
            <a:gdLst/>
            <a:ahLst/>
            <a:cxnLst/>
            <a:rect l="l" t="t" r="r" b="b"/>
            <a:pathLst>
              <a:path w="16864270" h="2308297">
                <a:moveTo>
                  <a:pt x="0" y="0"/>
                </a:moveTo>
                <a:lnTo>
                  <a:pt x="16864270" y="0"/>
                </a:lnTo>
                <a:lnTo>
                  <a:pt x="16864270" y="2308297"/>
                </a:lnTo>
                <a:lnTo>
                  <a:pt x="0" y="2308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8566" y="971550"/>
            <a:ext cx="12690867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maille quotidienne - PACA - Fine Search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00970" y="7936290"/>
            <a:ext cx="7682413" cy="121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proportion de la classe positive  ~ 0.018  1.8 %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algorithme un peu plus performant qu'un tirage au sort aléatoire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06322" y="7488652"/>
            <a:ext cx="5112505" cy="1307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Métriques de généralisation (Test) 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pr_auc_test_final   : 0.028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roc_auc_test_final : 0.847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98566" y="3193835"/>
            <a:ext cx="10096236" cy="105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diminue le taux d’apprentissage                                 learning_rate passe de 0.05 à  0.01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augment le nombre d’arbres                                        n_estimators  passe de 300 à 500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Régularise avec L1/L2 pour diminuer l’overfitting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60399" y="1998084"/>
            <a:ext cx="12629035" cy="7526395"/>
          </a:xfrm>
          <a:custGeom>
            <a:avLst/>
            <a:gdLst/>
            <a:ahLst/>
            <a:cxnLst/>
            <a:rect l="l" t="t" r="r" b="b"/>
            <a:pathLst>
              <a:path w="12629035" h="7526395">
                <a:moveTo>
                  <a:pt x="0" y="0"/>
                </a:moveTo>
                <a:lnTo>
                  <a:pt x="12629035" y="0"/>
                </a:lnTo>
                <a:lnTo>
                  <a:pt x="12629035" y="7526394"/>
                </a:lnTo>
                <a:lnTo>
                  <a:pt x="0" y="7526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8566" y="971550"/>
            <a:ext cx="12690867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Overfitting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916" y="9585310"/>
            <a:ext cx="18257084" cy="701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plafond de verre des features, absence de la météo, prédire l'occurrence d'un feu un jour donné, uniquement sur des données statiques et un historique glissant est une tâche extrêmement ardue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90688" y="1670738"/>
            <a:ext cx="7122202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Voies d’amélioration pour fin d’année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279053" y="3518574"/>
            <a:ext cx="6424258" cy="2111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définir des polygones pertinent (altitude, type de gégétation, densité de peuplement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Ajouter des donnée météo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90688" y="1670738"/>
            <a:ext cx="7106624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Identifier la ou les variables à prédire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11030" y="2717555"/>
            <a:ext cx="12533654" cy="4226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Variable binaire d’occurrence d’incendie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prédire si une commune aura ou non un incendie dans une période donnée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Niveau de risque quantitatif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estimer un score de risque d’incendie pour chaque commune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Type d’incendie selon le lieu et la date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prédire la probabilité de différents types d’incendies en fonction des caractéristiques géographiques et temporelles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Intensité ou superficie potentielle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prédire l’ampleur probable d’un incendie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7135" y="0"/>
            <a:ext cx="17654480" cy="10206496"/>
          </a:xfrm>
          <a:custGeom>
            <a:avLst/>
            <a:gdLst/>
            <a:ahLst/>
            <a:cxnLst/>
            <a:rect l="l" t="t" r="r" b="b"/>
            <a:pathLst>
              <a:path w="17654480" h="10206496">
                <a:moveTo>
                  <a:pt x="0" y="0"/>
                </a:moveTo>
                <a:lnTo>
                  <a:pt x="17654480" y="0"/>
                </a:lnTo>
                <a:lnTo>
                  <a:pt x="17654480" y="10206496"/>
                </a:lnTo>
                <a:lnTo>
                  <a:pt x="0" y="10206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4204213" y="971550"/>
            <a:ext cx="3090668" cy="5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BDD 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1831</Words>
  <Application>Microsoft Office PowerPoint</Application>
  <PresentationFormat>Personnalisé</PresentationFormat>
  <Paragraphs>347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7" baseType="lpstr">
      <vt:lpstr>Open Sans</vt:lpstr>
      <vt:lpstr>Open Sans Italics</vt:lpstr>
      <vt:lpstr>Arial</vt:lpstr>
      <vt:lpstr>Open Sans Bold</vt:lpstr>
      <vt:lpstr>Calibri</vt:lpstr>
      <vt:lpstr>Arimo</vt:lpstr>
      <vt:lpstr>Arimo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Incendie</dc:title>
  <cp:lastModifiedBy>COULET Bruno</cp:lastModifiedBy>
  <cp:revision>2</cp:revision>
  <dcterms:created xsi:type="dcterms:W3CDTF">2006-08-16T00:00:00Z</dcterms:created>
  <dcterms:modified xsi:type="dcterms:W3CDTF">2026-09-25T07:53:35Z</dcterms:modified>
  <dc:identifier>DAHUhi8TSjg</dc:identifier>
</cp:coreProperties>
</file>